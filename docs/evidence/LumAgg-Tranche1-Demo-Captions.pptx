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4114799" y="1920239"/>
            <a:ext cx="3931922" cy="54865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" name="TextBox 3"/>
          <p:cNvSpPr txBox="1"/>
          <p:nvPr/>
        </p:nvSpPr>
        <p:spPr>
          <a:xfrm>
            <a:off x="960119" y="2194560"/>
            <a:ext cx="10241282" cy="699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600"/>
              </a:spcBef>
              <a:defRPr b="1" sz="40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LumAgg — SCF #44 Tranche 1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1417320" y="3291840"/>
            <a:ext cx="9326880" cy="923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spcBef>
                <a:spcPts val="600"/>
              </a:spcBef>
              <a:defRPr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Integrator API  ·  Swap UX  ·  Analytics indexer  ·  Differentiation</a:t>
            </a:r>
          </a:p>
          <a:p>
            <a:pPr algn="ctr">
              <a:spcBef>
                <a:spcPts val="600"/>
              </a:spcBef>
              <a:defRPr sz="12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 algn="ctr">
              <a:spcBef>
                <a:spcPts val="600"/>
              </a:spcBef>
              <a:defRPr sz="16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lumagg.xyz  ·  api.lumagg.xyz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60119" y="5943599"/>
            <a:ext cx="10241282" cy="27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spcBef>
                <a:spcPts val="600"/>
              </a:spcBef>
              <a:defRPr sz="13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Silent demo with on-screen captions  ·  ~5 minutes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INTRO</a:t>
            </a:r>
          </a:p>
        </p:txBody>
      </p:sp>
      <p:sp>
        <p:nvSpPr>
          <p:cNvPr id="103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Tranche 1 delivers</a:t>
            </a:r>
          </a:p>
        </p:txBody>
      </p:sp>
      <p:sp>
        <p:nvSpPr>
          <p:cNvPr id="104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D1 — Live differentiation benchmarks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D2 — Integrator-ready public API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D3 — Completed swap UX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D4 — On-chain analytics indexer v0</a:t>
            </a:r>
          </a:p>
        </p:txBody>
      </p:sp>
      <p:sp>
        <p:nvSpPr>
          <p:cNvPr id="105" name="TextBox 6"/>
          <p:cNvSpPr txBox="1"/>
          <p:nvPr/>
        </p:nvSpPr>
        <p:spPr>
          <a:xfrm>
            <a:off x="1143000" y="6035040"/>
            <a:ext cx="9966961" cy="28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Next: live product walkthrough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DELIVERABLE 3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Swap UX complete</a:t>
            </a:r>
          </a:p>
        </p:txBody>
      </p:sp>
      <p:sp>
        <p:nvSpPr>
          <p:cNvPr id="111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Token logos via /api/v1/tokens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Wallet spendable balance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Quick amounts: 25% / 50% / 75% / 100%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Quote → build_tx → sign  ·  explorer link on success</a:t>
            </a:r>
          </a:p>
        </p:txBody>
      </p:sp>
      <p:sp>
        <p:nvSpPr>
          <p:cNvPr id="112" name="TextBox 6"/>
          <p:cNvSpPr txBox="1"/>
          <p:nvPr/>
        </p:nvSpPr>
        <p:spPr>
          <a:xfrm>
            <a:off x="1143000" y="6035040"/>
            <a:ext cx="9966961" cy="307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Show: https://lumagg.xyz  ·  XLM → USDC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DELIVERABLE 2</a:t>
            </a:r>
          </a:p>
        </p:txBody>
      </p:sp>
      <p:sp>
        <p:nvSpPr>
          <p:cNvPr id="117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Integrator-ready API</a:t>
            </a:r>
          </a:p>
        </p:txBody>
      </p:sp>
      <p:sp>
        <p:nvSpPr>
          <p:cNvPr id="118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OpenAPI + docs at lumagg.xyz/docs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prefer_soroban=1 on /quote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External smoke: quote + unsigned XDR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Evidence: docs/evidence/d2-integrator-smoke/</a:t>
            </a:r>
          </a:p>
        </p:txBody>
      </p:sp>
      <p:sp>
        <p:nvSpPr>
          <p:cNvPr id="119" name="TextBox 6"/>
          <p:cNvSpPr txBox="1"/>
          <p:nvPr/>
        </p:nvSpPr>
        <p:spPr>
          <a:xfrm>
            <a:off x="1143000" y="6035040"/>
            <a:ext cx="9966961" cy="28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Highlight: is_split  ·  unsigned_tx_xdr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DELIVERABLE 1</a:t>
            </a:r>
          </a:p>
        </p:txBody>
      </p:sp>
      <p:sp>
        <p:nvSpPr>
          <p:cNvPr id="124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Differentiation evidence</a:t>
            </a:r>
          </a:p>
        </p:txBody>
      </p:sp>
      <p:sp>
        <p:nvSpPr>
          <p:cNvPr id="125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Live Soroswap quote benchmark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Broker public router-contract comparison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Dated rows in docs/scf-benchmark-results.md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Reproducible: ./scripts/scf-benchmark.sh</a:t>
            </a:r>
          </a:p>
        </p:txBody>
      </p:sp>
      <p:sp>
        <p:nvSpPr>
          <p:cNvPr id="126" name="TextBox 6"/>
          <p:cNvSpPr txBox="1"/>
          <p:nvPr/>
        </p:nvSpPr>
        <p:spPr>
          <a:xfrm>
            <a:off x="1143000" y="6035040"/>
            <a:ext cx="9966961" cy="28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Show: GitHub docs — venue comparison + results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DELIVERABLE 4</a:t>
            </a:r>
          </a:p>
        </p:txBody>
      </p:sp>
      <p:sp>
        <p:nvSpPr>
          <p:cNvPr id="131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Analytics indexer v0</a:t>
            </a:r>
          </a:p>
        </p:txBody>
      </p:sp>
      <p:sp>
        <p:nvSpPr>
          <p:cNvPr id="132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Mainnet aggregator ingestion live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Daily volume · tx count · unique users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split_swap vs round_trip_swap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Per-DEX leg attribution</a:t>
            </a:r>
          </a:p>
        </p:txBody>
      </p:sp>
      <p:sp>
        <p:nvSpPr>
          <p:cNvPr id="133" name="TextBox 6"/>
          <p:cNvSpPr txBox="1"/>
          <p:nvPr/>
        </p:nvSpPr>
        <p:spPr>
          <a:xfrm>
            <a:off x="1143000" y="6035040"/>
            <a:ext cx="9966961" cy="28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Show: lumagg.xyz/stats  ·  GET /api/v1/stats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0A0B0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Rectangle 2"/>
          <p:cNvSpPr/>
          <p:nvPr/>
        </p:nvSpPr>
        <p:spPr>
          <a:xfrm>
            <a:off x="731519" y="2331720"/>
            <a:ext cx="109729" cy="2194561"/>
          </a:xfrm>
          <a:prstGeom prst="rect">
            <a:avLst/>
          </a:prstGeom>
          <a:solidFill>
            <a:srgbClr val="3DD6C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" name="TextBox 3"/>
          <p:cNvSpPr txBox="1"/>
          <p:nvPr/>
        </p:nvSpPr>
        <p:spPr>
          <a:xfrm>
            <a:off x="1143000" y="1737360"/>
            <a:ext cx="9966961" cy="302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1400">
                <a:solidFill>
                  <a:srgbClr val="3DD6C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CLOSE</a:t>
            </a:r>
          </a:p>
        </p:txBody>
      </p:sp>
      <p:sp>
        <p:nvSpPr>
          <p:cNvPr id="138" name="TextBox 4"/>
          <p:cNvSpPr txBox="1"/>
          <p:nvPr/>
        </p:nvSpPr>
        <p:spPr>
          <a:xfrm>
            <a:off x="1143000" y="2148839"/>
            <a:ext cx="9966961" cy="636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b="1" sz="3600">
                <a:solidFill>
                  <a:srgbClr val="F3F4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Tranche 1 complete — D1–D4</a:t>
            </a:r>
          </a:p>
        </p:txBody>
      </p:sp>
      <p:sp>
        <p:nvSpPr>
          <p:cNvPr id="139" name="TextBox 5"/>
          <p:cNvSpPr txBox="1"/>
          <p:nvPr/>
        </p:nvSpPr>
        <p:spPr>
          <a:xfrm>
            <a:off x="1143000" y="3200400"/>
            <a:ext cx="9966961" cy="153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https://lumagg.xyz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https://api.lumagg.xyz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https://github.com/Lum-Agg/stellar-dex-agg</a:t>
            </a:r>
          </a:p>
          <a:p>
            <a:pPr>
              <a:spcBef>
                <a:spcPts val="600"/>
              </a:spcBef>
              <a:defRPr sz="200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Evidence: docs/evidence/d2-integrator-smoke/</a:t>
            </a:r>
          </a:p>
        </p:txBody>
      </p:sp>
      <p:sp>
        <p:nvSpPr>
          <p:cNvPr id="140" name="TextBox 6"/>
          <p:cNvSpPr txBox="1"/>
          <p:nvPr/>
        </p:nvSpPr>
        <p:spPr>
          <a:xfrm>
            <a:off x="1143000" y="6035040"/>
            <a:ext cx="9966961" cy="289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spcBef>
                <a:spcPts val="600"/>
              </a:spcBef>
              <a:defRPr sz="1400">
                <a:solidFill>
                  <a:srgbClr val="6B728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Thanks for reviewing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